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80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Bricolage Grotesque ExtraBold" panose="020B0604020202020204" charset="0"/>
      <p:regular r:id="rId13"/>
    </p:embeddedFont>
    <p:embeddedFont>
      <p:font typeface="Bricolage Grotesque Light" panose="020B0604020202020204" charset="0"/>
      <p:regular r:id="rId14"/>
    </p:embeddedFont>
    <p:embeddedFont>
      <p:font typeface="Calisto MT" panose="02040603050505030304" pitchFamily="18" charset="0"/>
      <p:regular r:id="rId15"/>
      <p:bold r:id="rId16"/>
    </p:embeddedFont>
    <p:embeddedFont>
      <p:font typeface="Montserrat" panose="00000500000000000000" pitchFamily="2" charset="0"/>
      <p:regular r:id="rId17"/>
      <p:bold r:id="rId18"/>
    </p:embeddedFont>
    <p:embeddedFont>
      <p:font typeface="Wingdings 2" panose="05020102010507070707" pitchFamily="18" charset="2"/>
      <p:regular r:id="rId1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23065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28020" y="1327155"/>
            <a:ext cx="7080026" cy="1371601"/>
          </a:xfrm>
        </p:spPr>
        <p:txBody>
          <a:bodyPr anchor="b">
            <a:normAutofit/>
          </a:bodyPr>
          <a:lstStyle>
            <a:lvl1pPr algn="ctr">
              <a:defRPr sz="40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020" y="2698755"/>
            <a:ext cx="7080026" cy="787400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1288961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996525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1" y="1320801"/>
            <a:ext cx="7192913" cy="1371610"/>
          </a:xfrm>
        </p:spPr>
        <p:txBody>
          <a:bodyPr anchor="b"/>
          <a:lstStyle>
            <a:lvl1pPr algn="ctr">
              <a:defRPr sz="3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1" y="2692409"/>
            <a:ext cx="7192913" cy="1130291"/>
          </a:xfrm>
        </p:spPr>
        <p:txBody>
          <a:bodyPr anchor="t"/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2316658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347" y="1299337"/>
            <a:ext cx="3795373" cy="304406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2169" y="1299337"/>
            <a:ext cx="3798499" cy="304406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6/17/2026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9358012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346" y="1300880"/>
            <a:ext cx="3816804" cy="3111577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3864" y="1300880"/>
            <a:ext cx="3816804" cy="311157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404" y="1376441"/>
            <a:ext cx="3657258" cy="408663"/>
          </a:xfrm>
        </p:spPr>
        <p:txBody>
          <a:bodyPr anchor="b">
            <a:noAutofit/>
          </a:bodyPr>
          <a:lstStyle>
            <a:lvl1pPr marL="0" indent="0" algn="ctr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4404" y="1785103"/>
            <a:ext cx="3657258" cy="2558297"/>
          </a:xfrm>
        </p:spPr>
        <p:txBody>
          <a:bodyPr anchor="t"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21225" y="1376441"/>
            <a:ext cx="3671498" cy="408662"/>
          </a:xfrm>
        </p:spPr>
        <p:txBody>
          <a:bodyPr anchor="b">
            <a:noAutofit/>
          </a:bodyPr>
          <a:lstStyle>
            <a:lvl1pPr marL="0" indent="0" algn="ctr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21225" y="1785103"/>
            <a:ext cx="3671498" cy="2558297"/>
          </a:xfrm>
        </p:spPr>
        <p:txBody>
          <a:bodyPr anchor="t"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6/17/2026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4652096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6/17/2026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76110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6/17/2026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1230593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457200"/>
            <a:ext cx="2780167" cy="1366439"/>
          </a:xfrm>
        </p:spPr>
        <p:txBody>
          <a:bodyPr anchor="b">
            <a:normAutofit/>
          </a:bodyPr>
          <a:lstStyle>
            <a:lvl1pPr algn="ctr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41725" y="457200"/>
            <a:ext cx="4808943" cy="38862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1823639"/>
            <a:ext cx="2780167" cy="2519761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6/17/2026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2782780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0249" y="457200"/>
            <a:ext cx="2688125" cy="390362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457442"/>
            <a:ext cx="4451212" cy="1372004"/>
          </a:xfrm>
        </p:spPr>
        <p:txBody>
          <a:bodyPr anchor="b">
            <a:no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81914" y="572776"/>
            <a:ext cx="2456813" cy="3684617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1829445"/>
            <a:ext cx="4451212" cy="2532101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5309872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413" y="410855"/>
            <a:ext cx="7606349" cy="286260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4" y="3423941"/>
            <a:ext cx="7766495" cy="407604"/>
          </a:xfrm>
        </p:spPr>
        <p:txBody>
          <a:bodyPr anchor="b">
            <a:normAutofit/>
          </a:bodyPr>
          <a:lstStyle>
            <a:lvl1pPr algn="ctr">
              <a:defRPr sz="2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77012" y="521257"/>
            <a:ext cx="7384010" cy="2644253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500"/>
            </a:lvl1pPr>
            <a:lvl2pPr marL="342900" indent="0">
              <a:buNone/>
              <a:defRPr sz="1500"/>
            </a:lvl2pPr>
            <a:lvl3pPr marL="685800" indent="0">
              <a:buNone/>
              <a:defRPr sz="15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3831546"/>
            <a:ext cx="7765322" cy="511854"/>
          </a:xfrm>
        </p:spPr>
        <p:txBody>
          <a:bodyPr anchor="t"/>
          <a:lstStyle>
            <a:lvl1pPr marL="0" indent="0" algn="ctr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669370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456328"/>
            <a:ext cx="7765322" cy="2650758"/>
          </a:xfrm>
        </p:spPr>
        <p:txBody>
          <a:bodyPr anchor="ctr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3221385"/>
            <a:ext cx="7765322" cy="1126370"/>
          </a:xfrm>
        </p:spPr>
        <p:txBody>
          <a:bodyPr anchor="ctr"/>
          <a:lstStyle>
            <a:lvl1pPr marL="0" indent="0" algn="ctr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956241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457200"/>
            <a:ext cx="6977064" cy="2244678"/>
          </a:xfrm>
        </p:spPr>
        <p:txBody>
          <a:bodyPr anchor="ctr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2707524"/>
            <a:ext cx="6564224" cy="399562"/>
          </a:xfrm>
        </p:spPr>
        <p:txBody>
          <a:bodyPr anchor="t">
            <a:normAutofit/>
          </a:bodyPr>
          <a:lstStyle>
            <a:lvl1pPr marL="0" indent="0" algn="r">
              <a:buNone/>
              <a:defRPr sz="10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3228265"/>
            <a:ext cx="7765322" cy="111712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742950" y="66359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78537" y="219619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29185671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1595207"/>
            <a:ext cx="7765322" cy="1883876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9" y="3487917"/>
            <a:ext cx="7764149" cy="855483"/>
          </a:xfrm>
        </p:spPr>
        <p:txBody>
          <a:bodyPr anchor="t"/>
          <a:lstStyle>
            <a:lvl1pPr marL="0" indent="0" algn="ctr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9488156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46" y="457200"/>
            <a:ext cx="7765322" cy="7278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46" y="1414462"/>
            <a:ext cx="2475738" cy="432197"/>
          </a:xfrm>
        </p:spPr>
        <p:txBody>
          <a:bodyPr anchor="b">
            <a:noAutofit/>
          </a:bodyPr>
          <a:lstStyle>
            <a:lvl1pPr marL="0" indent="0" algn="ctr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46" y="1928812"/>
            <a:ext cx="2475738" cy="2414588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5033" y="1414462"/>
            <a:ext cx="2475738" cy="432197"/>
          </a:xfrm>
        </p:spPr>
        <p:txBody>
          <a:bodyPr anchor="b">
            <a:noAutofit/>
          </a:bodyPr>
          <a:lstStyle>
            <a:lvl1pPr marL="0" indent="0" algn="ctr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1076" y="1928812"/>
            <a:ext cx="2475738" cy="2414588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4929" y="1414462"/>
            <a:ext cx="2475738" cy="432197"/>
          </a:xfrm>
        </p:spPr>
        <p:txBody>
          <a:bodyPr anchor="b">
            <a:noAutofit/>
          </a:bodyPr>
          <a:lstStyle>
            <a:lvl1pPr marL="0" indent="0" algn="ctr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74929" y="1928812"/>
            <a:ext cx="2475738" cy="2414588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6/17/2026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4112383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472" y="1363661"/>
            <a:ext cx="2504979" cy="1385888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2850" y="1363661"/>
            <a:ext cx="2504979" cy="1385888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2038" y="1363661"/>
            <a:ext cx="2504979" cy="1385888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46" y="457200"/>
            <a:ext cx="7765322" cy="7278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46" y="2928079"/>
            <a:ext cx="2475738" cy="432197"/>
          </a:xfrm>
        </p:spPr>
        <p:txBody>
          <a:bodyPr anchor="b">
            <a:noAutofit/>
          </a:bodyPr>
          <a:lstStyle>
            <a:lvl1pPr marL="0" indent="0" algn="ctr">
              <a:buNone/>
              <a:defRPr sz="15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763577" y="1454188"/>
            <a:ext cx="2319276" cy="1202216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46" y="3360276"/>
            <a:ext cx="2475738" cy="983125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91" y="2928079"/>
            <a:ext cx="2475738" cy="432197"/>
          </a:xfrm>
        </p:spPr>
        <p:txBody>
          <a:bodyPr anchor="b">
            <a:noAutofit/>
          </a:bodyPr>
          <a:lstStyle>
            <a:lvl1pPr marL="0" indent="0" algn="ctr">
              <a:buNone/>
              <a:defRPr sz="15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409307" y="1454321"/>
            <a:ext cx="2319276" cy="1206123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76" y="3360276"/>
            <a:ext cx="2475738" cy="983125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5023" y="2928079"/>
            <a:ext cx="2475738" cy="432197"/>
          </a:xfrm>
        </p:spPr>
        <p:txBody>
          <a:bodyPr anchor="b">
            <a:noAutofit/>
          </a:bodyPr>
          <a:lstStyle>
            <a:lvl1pPr marL="0" indent="0" algn="ctr">
              <a:buNone/>
              <a:defRPr sz="15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056774" y="1450824"/>
            <a:ext cx="2319276" cy="1205471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4929" y="3360274"/>
            <a:ext cx="2475738" cy="983126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6/17/2026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1860981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6/17/2026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6061455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37302" y="457200"/>
            <a:ext cx="1713365" cy="38862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347" y="457200"/>
            <a:ext cx="5937654" cy="38862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683372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1521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46" y="457200"/>
            <a:ext cx="7765322" cy="727838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46" y="1299337"/>
            <a:ext cx="7765322" cy="3044063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2" y="4412457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B61BEF0D-F0BB-DE4B-95CE-6DB70DBA9567}" type="datetimeFigureOut">
              <a:rPr lang="en-US" smtClean="0"/>
              <a:pPr/>
              <a:t>6/17/2026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47" y="4412457"/>
            <a:ext cx="500464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4412457"/>
            <a:ext cx="56515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101937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10" r:id="rId1"/>
    <p:sldLayoutId id="2147483811" r:id="rId2"/>
    <p:sldLayoutId id="2147483812" r:id="rId3"/>
    <p:sldLayoutId id="2147483813" r:id="rId4"/>
    <p:sldLayoutId id="2147483814" r:id="rId5"/>
    <p:sldLayoutId id="2147483815" r:id="rId6"/>
    <p:sldLayoutId id="2147483816" r:id="rId7"/>
    <p:sldLayoutId id="2147483817" r:id="rId8"/>
    <p:sldLayoutId id="2147483818" r:id="rId9"/>
    <p:sldLayoutId id="2147483819" r:id="rId10"/>
    <p:sldLayoutId id="2147483820" r:id="rId11"/>
    <p:sldLayoutId id="2147483821" r:id="rId12"/>
    <p:sldLayoutId id="2147483822" r:id="rId13"/>
    <p:sldLayoutId id="2147483823" r:id="rId14"/>
    <p:sldLayoutId id="2147483824" r:id="rId15"/>
    <p:sldLayoutId id="2147483825" r:id="rId16"/>
    <p:sldLayoutId id="2147483826" r:id="rId17"/>
    <p:sldLayoutId id="2147483827" r:id="rId18"/>
  </p:sldLayoutIdLst>
  <p:hf sldNum="0" hdr="0" ftr="0" dt="0"/>
  <p:txStyles>
    <p:titleStyle>
      <a:lvl1pPr algn="ctr" defTabSz="342900" rtl="0" eaLnBrk="1" latinLnBrk="0" hangingPunct="1">
        <a:spcBef>
          <a:spcPct val="0"/>
        </a:spcBef>
        <a:buNone/>
        <a:defRPr sz="3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29500" algn="l" defTabSz="342900" rtl="0" eaLnBrk="1" latinLnBrk="0" hangingPunct="1">
        <a:spcBef>
          <a:spcPct val="20000"/>
        </a:spcBef>
        <a:spcAft>
          <a:spcPts val="450"/>
        </a:spcAft>
        <a:buClr>
          <a:schemeClr val="tx2"/>
        </a:buClr>
        <a:buSzPct val="70000"/>
        <a:buFont typeface="Wingdings 2" charset="2"/>
        <a:buChar char=""/>
        <a:defRPr sz="15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540000" indent="-202500" algn="l" defTabSz="342900" rtl="0" eaLnBrk="1" latinLnBrk="0" hangingPunct="1">
        <a:spcBef>
          <a:spcPct val="20000"/>
        </a:spcBef>
        <a:spcAft>
          <a:spcPts val="450"/>
        </a:spcAft>
        <a:buClr>
          <a:schemeClr val="tx2"/>
        </a:buClr>
        <a:buSzPct val="70000"/>
        <a:buFont typeface="Wingdings 2" charset="2"/>
        <a:buChar char=""/>
        <a:defRPr sz="135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769500" indent="-162000" algn="l" defTabSz="342900" rtl="0" eaLnBrk="1" latinLnBrk="0" hangingPunct="1">
        <a:spcBef>
          <a:spcPct val="20000"/>
        </a:spcBef>
        <a:spcAft>
          <a:spcPts val="450"/>
        </a:spcAft>
        <a:buClr>
          <a:schemeClr val="tx2"/>
        </a:buClr>
        <a:buSzPct val="70000"/>
        <a:buFont typeface="Wingdings 2" charset="2"/>
        <a:buChar char=""/>
        <a:defRPr sz="12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039500" indent="-162000" algn="l" defTabSz="342900" rtl="0" eaLnBrk="1" latinLnBrk="0" hangingPunct="1">
        <a:spcBef>
          <a:spcPct val="20000"/>
        </a:spcBef>
        <a:spcAft>
          <a:spcPts val="450"/>
        </a:spcAft>
        <a:buClr>
          <a:schemeClr val="tx2"/>
        </a:buClr>
        <a:buSzPct val="70000"/>
        <a:buFont typeface="Wingdings 2" charset="2"/>
        <a:buChar char=""/>
        <a:defRPr sz="105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255500" indent="-162000" algn="l" defTabSz="342900" rtl="0" eaLnBrk="1" latinLnBrk="0" hangingPunct="1">
        <a:spcBef>
          <a:spcPct val="20000"/>
        </a:spcBef>
        <a:spcAft>
          <a:spcPts val="450"/>
        </a:spcAft>
        <a:buClr>
          <a:schemeClr val="tx2"/>
        </a:buClr>
        <a:buSzPct val="70000"/>
        <a:buFont typeface="Wingdings 2" charset="2"/>
        <a:buChar char=""/>
        <a:defRPr sz="105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15109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2"/>
        </a:buClr>
        <a:buSzPct val="70000"/>
        <a:buFont typeface="Wingdings 2" charset="2"/>
        <a:buChar char=""/>
        <a:defRPr sz="105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18013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2"/>
        </a:buClr>
        <a:buSzPct val="70000"/>
        <a:buFont typeface="Wingdings 2" charset="2"/>
        <a:buChar char=""/>
        <a:defRPr sz="105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0917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2"/>
        </a:buClr>
        <a:buSzPct val="70000"/>
        <a:buFont typeface="Wingdings 2" charset="2"/>
        <a:buChar char=""/>
        <a:defRPr sz="105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23296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2"/>
        </a:buClr>
        <a:buSzPct val="70000"/>
        <a:buFont typeface="Wingdings 2" charset="2"/>
        <a:buChar char=""/>
        <a:defRPr sz="105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12" Type="http://schemas.openxmlformats.org/officeDocument/2006/relationships/image" Target="../media/image28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2.sv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0" Type="http://schemas.openxmlformats.org/officeDocument/2006/relationships/image" Target="../media/image26.svg"/><Relationship Id="rId4" Type="http://schemas.openxmlformats.org/officeDocument/2006/relationships/image" Target="../media/image20.svg"/><Relationship Id="rId9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"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3550" y="0"/>
            <a:ext cx="360045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696120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EEAEF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Flipkart Sales Performance Analysis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794695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Power BI Business Intelligence Dashboard Review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96119" y="3180978"/>
            <a:ext cx="1768673" cy="266402"/>
          </a:xfrm>
          <a:prstGeom prst="roundRect">
            <a:avLst>
              <a:gd name="adj" fmla="val 17880"/>
            </a:avLst>
          </a:prstGeom>
          <a:solidFill>
            <a:srgbClr val="3E0845"/>
          </a:solidFill>
          <a:ln/>
        </p:spPr>
      </p:sp>
      <p:sp>
        <p:nvSpPr>
          <p:cNvPr id="6" name="Text 3"/>
          <p:cNvSpPr/>
          <p:nvPr/>
        </p:nvSpPr>
        <p:spPr>
          <a:xfrm>
            <a:off x="581174" y="3223468"/>
            <a:ext cx="2055763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EXECUTIVE BRIEFING · 2024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01389"/>
            <a:ext cx="1347713" cy="248543"/>
          </a:xfrm>
          <a:prstGeom prst="roundRect">
            <a:avLst>
              <a:gd name="adj" fmla="val 17668"/>
            </a:avLst>
          </a:prstGeom>
          <a:noFill/>
          <a:ln w="4763">
            <a:solidFill>
              <a:srgbClr val="EEAE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9239" y="445294"/>
            <a:ext cx="1638672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00" b="1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EXECUTIVE SUMMARY</a:t>
            </a:r>
            <a:endParaRPr lang="en-US" sz="800" b="1" dirty="0"/>
          </a:p>
        </p:txBody>
      </p:sp>
      <p:sp>
        <p:nvSpPr>
          <p:cNvPr id="4" name="Text 2"/>
          <p:cNvSpPr/>
          <p:nvPr/>
        </p:nvSpPr>
        <p:spPr>
          <a:xfrm>
            <a:off x="496119" y="698078"/>
            <a:ext cx="4916091" cy="408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>
                <a:solidFill>
                  <a:srgbClr val="EEAEF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Business Health at a Glance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496119" y="1352476"/>
            <a:ext cx="2616845" cy="431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35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₹2.4Cr</a:t>
            </a:r>
            <a:endParaRPr lang="en-US" sz="3350" dirty="0"/>
          </a:p>
        </p:txBody>
      </p:sp>
      <p:sp>
        <p:nvSpPr>
          <p:cNvPr id="6" name="Text 4"/>
          <p:cNvSpPr/>
          <p:nvPr/>
        </p:nvSpPr>
        <p:spPr>
          <a:xfrm>
            <a:off x="987698" y="1939454"/>
            <a:ext cx="16336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Total Sales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96119" y="2215828"/>
            <a:ext cx="2616845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10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Year-to-date revenue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63503" y="1352476"/>
            <a:ext cx="2616919" cy="431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35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₹42L</a:t>
            </a:r>
            <a:endParaRPr lang="en-US" sz="3350" dirty="0"/>
          </a:p>
        </p:txBody>
      </p:sp>
      <p:sp>
        <p:nvSpPr>
          <p:cNvPr id="9" name="Text 7"/>
          <p:cNvSpPr/>
          <p:nvPr/>
        </p:nvSpPr>
        <p:spPr>
          <a:xfrm>
            <a:off x="3755157" y="1939454"/>
            <a:ext cx="16336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Total Profit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263503" y="2215828"/>
            <a:ext cx="2616919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10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Net profitability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030962" y="1352476"/>
            <a:ext cx="2616919" cy="431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35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18K</a:t>
            </a:r>
            <a:endParaRPr lang="en-US" sz="3350" dirty="0"/>
          </a:p>
        </p:txBody>
      </p:sp>
      <p:sp>
        <p:nvSpPr>
          <p:cNvPr id="12" name="Text 10"/>
          <p:cNvSpPr/>
          <p:nvPr/>
        </p:nvSpPr>
        <p:spPr>
          <a:xfrm>
            <a:off x="6522616" y="1939454"/>
            <a:ext cx="16336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Total Orders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030962" y="2215828"/>
            <a:ext cx="2616919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10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Orders processed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879774" y="2722959"/>
            <a:ext cx="2616919" cy="431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35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12K</a:t>
            </a:r>
            <a:endParaRPr lang="en-US" sz="3350" dirty="0"/>
          </a:p>
        </p:txBody>
      </p:sp>
      <p:sp>
        <p:nvSpPr>
          <p:cNvPr id="15" name="Text 13"/>
          <p:cNvSpPr/>
          <p:nvPr/>
        </p:nvSpPr>
        <p:spPr>
          <a:xfrm>
            <a:off x="2371427" y="3309938"/>
            <a:ext cx="16336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Total Customers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879774" y="3586311"/>
            <a:ext cx="2616919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10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Active customer base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647233" y="2722959"/>
            <a:ext cx="2616919" cy="431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35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17.5%</a:t>
            </a:r>
            <a:endParaRPr lang="en-US" sz="3350" dirty="0"/>
          </a:p>
        </p:txBody>
      </p:sp>
      <p:sp>
        <p:nvSpPr>
          <p:cNvPr id="18" name="Text 16"/>
          <p:cNvSpPr/>
          <p:nvPr/>
        </p:nvSpPr>
        <p:spPr>
          <a:xfrm>
            <a:off x="5138886" y="3309938"/>
            <a:ext cx="16336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Profit Margin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647233" y="3586311"/>
            <a:ext cx="2616919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10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Net margin achieved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96119" y="3922663"/>
            <a:ext cx="8151763" cy="683865"/>
          </a:xfrm>
          <a:prstGeom prst="roundRect">
            <a:avLst>
              <a:gd name="adj" fmla="val 8027"/>
            </a:avLst>
          </a:prstGeom>
          <a:solidFill>
            <a:srgbClr val="3E0845"/>
          </a:solidFill>
          <a:ln/>
        </p:spPr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790" y="4109740"/>
            <a:ext cx="163339" cy="130671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920800" y="4063752"/>
            <a:ext cx="7596411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Executive Insight:</a:t>
            </a:r>
            <a:r>
              <a:rPr lang="en-US" sz="10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Performance can be monitored through sales, profitability, customer growth, and operational efficiency — all unified in a single Power BI dashboard.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38721" y="437331"/>
            <a:ext cx="914400" cy="159321"/>
          </a:xfrm>
          <a:prstGeom prst="roundRect">
            <a:avLst>
              <a:gd name="adj" fmla="val 19153"/>
            </a:avLst>
          </a:prstGeom>
          <a:noFill/>
          <a:ln w="4763">
            <a:solidFill>
              <a:srgbClr val="EEAE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497955" y="469329"/>
            <a:ext cx="1253133" cy="159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550" b="1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ARCHITECTURE</a:t>
            </a:r>
            <a:endParaRPr lang="en-US" sz="550" b="1" dirty="0"/>
          </a:p>
        </p:txBody>
      </p:sp>
      <p:sp>
        <p:nvSpPr>
          <p:cNvPr id="4" name="Text 2"/>
          <p:cNvSpPr/>
          <p:nvPr/>
        </p:nvSpPr>
        <p:spPr>
          <a:xfrm>
            <a:off x="1438721" y="619869"/>
            <a:ext cx="5768876" cy="283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EEAEF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Single Source of Truth: Dashboard Architecture</a:t>
            </a:r>
            <a:endParaRPr lang="en-US" sz="1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8721" y="1056233"/>
            <a:ext cx="3022550" cy="30225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687491" y="2291655"/>
            <a:ext cx="1711226" cy="141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EEAEF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Enterprise Data Model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4687491" y="2491680"/>
            <a:ext cx="3022550" cy="3574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7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star schema architecture ensures consistent, reliable reporting across all business units — eliminating data silos and enabling real-time decision-making.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1438721" y="4209604"/>
            <a:ext cx="3104183" cy="496565"/>
          </a:xfrm>
          <a:prstGeom prst="roundRect">
            <a:avLst>
              <a:gd name="adj" fmla="val 7682"/>
            </a:avLst>
          </a:prstGeom>
          <a:solidFill>
            <a:srgbClr val="090E3F"/>
          </a:solidFill>
          <a:ln w="9525">
            <a:solidFill>
              <a:srgbClr val="41467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539032" y="4309914"/>
            <a:ext cx="1135187" cy="141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Fact Table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1539032" y="4486721"/>
            <a:ext cx="2903562" cy="119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7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Sales transactions</a:t>
            </a:r>
            <a:endParaRPr lang="en-US" sz="700" dirty="0"/>
          </a:p>
        </p:txBody>
      </p:sp>
      <p:sp>
        <p:nvSpPr>
          <p:cNvPr id="11" name="Shape 8"/>
          <p:cNvSpPr/>
          <p:nvPr/>
        </p:nvSpPr>
        <p:spPr>
          <a:xfrm>
            <a:off x="4601021" y="4209604"/>
            <a:ext cx="3104257" cy="496565"/>
          </a:xfrm>
          <a:prstGeom prst="roundRect">
            <a:avLst>
              <a:gd name="adj" fmla="val 7682"/>
            </a:avLst>
          </a:prstGeom>
          <a:solidFill>
            <a:srgbClr val="090E3F"/>
          </a:solidFill>
          <a:ln w="9525">
            <a:solidFill>
              <a:srgbClr val="41467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01332" y="4309914"/>
            <a:ext cx="1135187" cy="141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Dimension Tables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4701332" y="4486721"/>
            <a:ext cx="2903637" cy="119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7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Products, Customers, Regions, Date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4489" y="391939"/>
            <a:ext cx="1194346" cy="207169"/>
          </a:xfrm>
          <a:prstGeom prst="roundRect">
            <a:avLst>
              <a:gd name="adj" fmla="val 18322"/>
            </a:avLst>
          </a:prstGeom>
          <a:noFill/>
          <a:ln w="4763">
            <a:solidFill>
              <a:srgbClr val="EEAE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6968" y="430560"/>
            <a:ext cx="1506587" cy="1299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00" dirty="0">
                <a:solidFill>
                  <a:srgbClr val="EEAE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SALES PERFORMANCE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74489" y="635050"/>
            <a:ext cx="5050780" cy="352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EEAEF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Revenue Trends: YTD, QTD &amp; MTD</a:t>
            </a:r>
            <a:endParaRPr lang="en-US" sz="2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489" y="1224186"/>
            <a:ext cx="3759622" cy="270614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714503" y="1212949"/>
            <a:ext cx="2238449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EEAEF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Time Intelligence Insights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714503" y="1479426"/>
            <a:ext cx="3759622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YTD, QTD, and MTD views reveal revenue momentum and flag months requiring intervention.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4714503" y="1905372"/>
            <a:ext cx="3759622" cy="543074"/>
          </a:xfrm>
          <a:prstGeom prst="roundRect">
            <a:avLst>
              <a:gd name="adj" fmla="val 8737"/>
            </a:avLst>
          </a:prstGeom>
          <a:solidFill>
            <a:srgbClr val="022349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7463" y="2066702"/>
            <a:ext cx="141163" cy="11296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081587" y="2014538"/>
            <a:ext cx="3279577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Peak Period:</a:t>
            </a:r>
            <a:r>
              <a:rPr lang="en-US" sz="8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March and June show the strongest revenue — align marketing spend accordingly.</a:t>
            </a:r>
            <a:endParaRPr lang="en-US" sz="850" dirty="0"/>
          </a:p>
        </p:txBody>
      </p:sp>
      <p:sp>
        <p:nvSpPr>
          <p:cNvPr id="11" name="Shape 7"/>
          <p:cNvSpPr/>
          <p:nvPr/>
        </p:nvSpPr>
        <p:spPr>
          <a:xfrm>
            <a:off x="674489" y="4132734"/>
            <a:ext cx="2538338" cy="618753"/>
          </a:xfrm>
          <a:prstGeom prst="roundRect">
            <a:avLst>
              <a:gd name="adj" fmla="val 7668"/>
            </a:avLst>
          </a:prstGeom>
          <a:solidFill>
            <a:srgbClr val="282D5E"/>
          </a:solidFill>
          <a:ln/>
        </p:spPr>
      </p:sp>
      <p:sp>
        <p:nvSpPr>
          <p:cNvPr id="12" name="Text 8"/>
          <p:cNvSpPr/>
          <p:nvPr/>
        </p:nvSpPr>
        <p:spPr>
          <a:xfrm>
            <a:off x="787450" y="4245694"/>
            <a:ext cx="14120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YTD Sales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787450" y="4476155"/>
            <a:ext cx="2312417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₹2.4 Cr total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3302794" y="4132734"/>
            <a:ext cx="2538338" cy="618753"/>
          </a:xfrm>
          <a:prstGeom prst="roundRect">
            <a:avLst>
              <a:gd name="adj" fmla="val 7668"/>
            </a:avLst>
          </a:prstGeom>
          <a:solidFill>
            <a:srgbClr val="282D5E"/>
          </a:solidFill>
          <a:ln/>
        </p:spPr>
      </p:sp>
      <p:sp>
        <p:nvSpPr>
          <p:cNvPr id="15" name="Text 11"/>
          <p:cNvSpPr/>
          <p:nvPr/>
        </p:nvSpPr>
        <p:spPr>
          <a:xfrm>
            <a:off x="3415754" y="4245694"/>
            <a:ext cx="14120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QTD Sales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3415754" y="4476155"/>
            <a:ext cx="2312417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₹72 L current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5931098" y="4132734"/>
            <a:ext cx="2538338" cy="618753"/>
          </a:xfrm>
          <a:prstGeom prst="roundRect">
            <a:avLst>
              <a:gd name="adj" fmla="val 7668"/>
            </a:avLst>
          </a:prstGeom>
          <a:solidFill>
            <a:srgbClr val="282D5E"/>
          </a:solidFill>
          <a:ln/>
        </p:spPr>
      </p:sp>
      <p:sp>
        <p:nvSpPr>
          <p:cNvPr id="18" name="Text 14"/>
          <p:cNvSpPr/>
          <p:nvPr/>
        </p:nvSpPr>
        <p:spPr>
          <a:xfrm>
            <a:off x="6044059" y="4245694"/>
            <a:ext cx="14120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MTD Sales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6044059" y="4476155"/>
            <a:ext cx="2312417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₹28 L running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4489" y="421332"/>
            <a:ext cx="1102519" cy="207169"/>
          </a:xfrm>
          <a:prstGeom prst="roundRect">
            <a:avLst>
              <a:gd name="adj" fmla="val 18322"/>
            </a:avLst>
          </a:prstGeom>
          <a:noFill/>
          <a:ln w="4763">
            <a:solidFill>
              <a:srgbClr val="EEAE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6968" y="459953"/>
            <a:ext cx="1414760" cy="1299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00" dirty="0">
                <a:solidFill>
                  <a:srgbClr val="EEAE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REGIONAL ANALYSIS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74489" y="664443"/>
            <a:ext cx="6784404" cy="352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EEAEF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Regional Profitability: Where Value Is Created</a:t>
            </a:r>
            <a:endParaRPr lang="en-US" sz="2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489" y="1253579"/>
            <a:ext cx="3759622" cy="270614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714503" y="1242343"/>
            <a:ext cx="2296492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EEAEF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Executive Regional Insight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714503" y="1508820"/>
            <a:ext cx="3759622" cy="487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South and West regions drive the majority of profitability, while Central requires strategic intervention to reverse negative contribution.</a:t>
            </a:r>
            <a:endParaRPr lang="en-US" sz="8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6831" y="4165588"/>
            <a:ext cx="169441" cy="16944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41574" y="4162127"/>
            <a:ext cx="1412081" cy="1812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🏆</a:t>
            </a:r>
            <a:r>
              <a:rPr lang="en-US" sz="110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South &amp; West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1041574" y="4397350"/>
            <a:ext cx="2156222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Highest profit contributors — protect and scale.</a:t>
            </a:r>
            <a:endParaRPr lang="en-US" sz="8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52651" y="4165588"/>
            <a:ext cx="169441" cy="16944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677394" y="4162127"/>
            <a:ext cx="1412081" cy="1812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⚠️</a:t>
            </a:r>
            <a:r>
              <a:rPr lang="en-US" sz="110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Central Region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3677394" y="4397350"/>
            <a:ext cx="2156222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Negative contribution — review logistics and pricing.</a:t>
            </a:r>
            <a:endParaRPr lang="en-US" sz="8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88472" y="4165588"/>
            <a:ext cx="169441" cy="169441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313215" y="4162127"/>
            <a:ext cx="1412081" cy="1812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📈</a:t>
            </a:r>
            <a:r>
              <a:rPr lang="en-US" sz="110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North &amp; East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6313215" y="4397350"/>
            <a:ext cx="2156222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Growth potential — targeted investment warranted.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91568" y="439564"/>
            <a:ext cx="1003176" cy="150316"/>
          </a:xfrm>
          <a:prstGeom prst="roundRect">
            <a:avLst>
              <a:gd name="adj" fmla="val 19311"/>
            </a:avLst>
          </a:prstGeom>
          <a:noFill/>
          <a:ln w="4763">
            <a:solidFill>
              <a:srgbClr val="EEAE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8123" y="470222"/>
            <a:ext cx="1347267" cy="88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500" dirty="0">
                <a:solidFill>
                  <a:srgbClr val="EEAE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PRODUCT INTELLIGENCE</a:t>
            </a:r>
            <a:endParaRPr lang="en-US" sz="500" dirty="0"/>
          </a:p>
        </p:txBody>
      </p:sp>
      <p:sp>
        <p:nvSpPr>
          <p:cNvPr id="4" name="Text 2"/>
          <p:cNvSpPr/>
          <p:nvPr/>
        </p:nvSpPr>
        <p:spPr>
          <a:xfrm>
            <a:off x="1591568" y="610865"/>
            <a:ext cx="5016773" cy="269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EEAEF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Product Portfolio: Revenue &amp; Profit Drivers</a:t>
            </a:r>
            <a:endParaRPr lang="en-US" sz="17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1568" y="1018877"/>
            <a:ext cx="2875062" cy="287506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682133" y="2254076"/>
            <a:ext cx="2075111" cy="134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EEAEF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Category Strategy Framework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4682133" y="2441600"/>
            <a:ext cx="2875062" cy="2223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6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Classifying products by sales and profit reveals where to invest, protect, and optimize.</a:t>
            </a:r>
            <a:endParaRPr lang="en-US" sz="6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82043" y="4012257"/>
            <a:ext cx="1460227" cy="69167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715988" y="4108103"/>
            <a:ext cx="1079822" cy="134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⭐</a:t>
            </a:r>
            <a:r>
              <a:rPr lang="en-US" sz="85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Star Products</a:t>
            </a:r>
            <a:endParaRPr lang="en-US" sz="850" dirty="0"/>
          </a:p>
        </p:txBody>
      </p:sp>
      <p:sp>
        <p:nvSpPr>
          <p:cNvPr id="10" name="Text 6"/>
          <p:cNvSpPr/>
          <p:nvPr/>
        </p:nvSpPr>
        <p:spPr>
          <a:xfrm>
            <a:off x="1715988" y="4274567"/>
            <a:ext cx="1230437" cy="2223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6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Electronics &amp; Fashion — defend margins.</a:t>
            </a:r>
            <a:endParaRPr lang="en-US" sz="6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085356" y="4012257"/>
            <a:ext cx="1460302" cy="69167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219301" y="4108103"/>
            <a:ext cx="1079822" cy="134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📦</a:t>
            </a:r>
            <a:r>
              <a:rPr lang="en-US" sz="85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Volume Leaders</a:t>
            </a:r>
            <a:endParaRPr lang="en-US" sz="850" dirty="0"/>
          </a:p>
        </p:txBody>
      </p:sp>
      <p:sp>
        <p:nvSpPr>
          <p:cNvPr id="13" name="Text 8"/>
          <p:cNvSpPr/>
          <p:nvPr/>
        </p:nvSpPr>
        <p:spPr>
          <a:xfrm>
            <a:off x="3219301" y="4274567"/>
            <a:ext cx="1230511" cy="2223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6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Grocery &amp; Home — optimize fulfillment costs.</a:t>
            </a:r>
            <a:endParaRPr lang="en-US" sz="6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88743" y="4012257"/>
            <a:ext cx="1460302" cy="691679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722688" y="4108103"/>
            <a:ext cx="1079822" cy="134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💎</a:t>
            </a:r>
            <a:r>
              <a:rPr lang="en-US" sz="85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Niche Gems</a:t>
            </a:r>
            <a:endParaRPr lang="en-US" sz="850" dirty="0"/>
          </a:p>
        </p:txBody>
      </p:sp>
      <p:sp>
        <p:nvSpPr>
          <p:cNvPr id="16" name="Text 10"/>
          <p:cNvSpPr/>
          <p:nvPr/>
        </p:nvSpPr>
        <p:spPr>
          <a:xfrm>
            <a:off x="4722688" y="4274567"/>
            <a:ext cx="1230511" cy="2223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6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Beauty &amp; Sports — scale with targeted marketing.</a:t>
            </a:r>
            <a:endParaRPr lang="en-US" sz="65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2130" y="4012257"/>
            <a:ext cx="1460302" cy="691679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226076" y="4108103"/>
            <a:ext cx="1103709" cy="134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🔍</a:t>
            </a:r>
            <a:r>
              <a:rPr lang="en-US" sz="85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Underperformers</a:t>
            </a:r>
            <a:endParaRPr lang="en-US" sz="850" dirty="0"/>
          </a:p>
        </p:txBody>
      </p:sp>
      <p:sp>
        <p:nvSpPr>
          <p:cNvPr id="19" name="Text 12"/>
          <p:cNvSpPr/>
          <p:nvPr/>
        </p:nvSpPr>
        <p:spPr>
          <a:xfrm>
            <a:off x="6226076" y="4274567"/>
            <a:ext cx="1230511" cy="3335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6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Books &amp; Toys — evaluate discontinuation or repositioning.</a:t>
            </a:r>
            <a:endParaRPr lang="en-US" sz="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62298" y="389855"/>
            <a:ext cx="1131391" cy="163934"/>
          </a:xfrm>
          <a:prstGeom prst="roundRect">
            <a:avLst>
              <a:gd name="adj" fmla="val 19068"/>
            </a:avLst>
          </a:prstGeom>
          <a:noFill/>
          <a:ln w="4763">
            <a:solidFill>
              <a:srgbClr val="EEAE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422871" y="422523"/>
            <a:ext cx="1467445" cy="98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550" dirty="0">
                <a:solidFill>
                  <a:srgbClr val="EEAE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CUSTOMER INTELLIGENCE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1362298" y="578197"/>
            <a:ext cx="5728767" cy="290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EEAEF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Customer Segmentation &amp; Retention Strategy</a:t>
            </a:r>
            <a:endParaRPr lang="en-US" sz="1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2298" y="1029146"/>
            <a:ext cx="3096220" cy="30962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690244" y="2111276"/>
            <a:ext cx="2017440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EEAEF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Three-Tier Customer Model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690244" y="2317626"/>
            <a:ext cx="3096220" cy="246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Segmenting customers by value enables differentiated retention strategies and maximizes lifetime revenue.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4690244" y="2632770"/>
            <a:ext cx="3096220" cy="402729"/>
          </a:xfrm>
          <a:prstGeom prst="roundRect">
            <a:avLst>
              <a:gd name="adj" fmla="val 9702"/>
            </a:avLst>
          </a:prstGeom>
          <a:solidFill>
            <a:srgbClr val="183A13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3262" y="2758083"/>
            <a:ext cx="116235" cy="9301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992514" y="2710904"/>
            <a:ext cx="2700933" cy="246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Retention Priority:</a:t>
            </a:r>
            <a:r>
              <a:rPr lang="en-US" sz="7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Repeat customers represent 62% of orders — loyalty programs are a high-ROI investment.</a:t>
            </a:r>
            <a:endParaRPr lang="en-US" sz="700" dirty="0"/>
          </a:p>
        </p:txBody>
      </p:sp>
      <p:sp>
        <p:nvSpPr>
          <p:cNvPr id="11" name="Shape 7"/>
          <p:cNvSpPr/>
          <p:nvPr/>
        </p:nvSpPr>
        <p:spPr>
          <a:xfrm>
            <a:off x="1362298" y="4262735"/>
            <a:ext cx="2099072" cy="491207"/>
          </a:xfrm>
          <a:prstGeom prst="roundRect">
            <a:avLst>
              <a:gd name="adj" fmla="val 7955"/>
            </a:avLst>
          </a:prstGeom>
          <a:solidFill>
            <a:srgbClr val="282D5E"/>
          </a:solidFill>
          <a:ln/>
        </p:spPr>
      </p:sp>
      <p:sp>
        <p:nvSpPr>
          <p:cNvPr id="12" name="Text 8"/>
          <p:cNvSpPr/>
          <p:nvPr/>
        </p:nvSpPr>
        <p:spPr>
          <a:xfrm>
            <a:off x="1455316" y="4355753"/>
            <a:ext cx="1162869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Premium (15%)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455316" y="4537695"/>
            <a:ext cx="1913037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45% of revenue — VIP treatment</a:t>
            </a:r>
            <a:endParaRPr lang="en-US" sz="700" dirty="0"/>
          </a:p>
        </p:txBody>
      </p:sp>
      <p:sp>
        <p:nvSpPr>
          <p:cNvPr id="14" name="Shape 10"/>
          <p:cNvSpPr/>
          <p:nvPr/>
        </p:nvSpPr>
        <p:spPr>
          <a:xfrm>
            <a:off x="3522390" y="4262735"/>
            <a:ext cx="2099146" cy="491207"/>
          </a:xfrm>
          <a:prstGeom prst="roundRect">
            <a:avLst>
              <a:gd name="adj" fmla="val 7955"/>
            </a:avLst>
          </a:prstGeom>
          <a:solidFill>
            <a:srgbClr val="282D5E"/>
          </a:solidFill>
          <a:ln/>
        </p:spPr>
      </p:sp>
      <p:sp>
        <p:nvSpPr>
          <p:cNvPr id="15" name="Text 11"/>
          <p:cNvSpPr/>
          <p:nvPr/>
        </p:nvSpPr>
        <p:spPr>
          <a:xfrm>
            <a:off x="3615407" y="4355753"/>
            <a:ext cx="1162869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Standard (55%)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3615407" y="4537695"/>
            <a:ext cx="1913111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40% of revenue — upsell focus</a:t>
            </a:r>
            <a:endParaRPr lang="en-US" sz="700" dirty="0"/>
          </a:p>
        </p:txBody>
      </p:sp>
      <p:sp>
        <p:nvSpPr>
          <p:cNvPr id="17" name="Shape 13"/>
          <p:cNvSpPr/>
          <p:nvPr/>
        </p:nvSpPr>
        <p:spPr>
          <a:xfrm>
            <a:off x="5682555" y="4262735"/>
            <a:ext cx="2099072" cy="491207"/>
          </a:xfrm>
          <a:prstGeom prst="roundRect">
            <a:avLst>
              <a:gd name="adj" fmla="val 7955"/>
            </a:avLst>
          </a:prstGeom>
          <a:solidFill>
            <a:srgbClr val="282D5E"/>
          </a:solidFill>
          <a:ln/>
        </p:spPr>
      </p:sp>
      <p:sp>
        <p:nvSpPr>
          <p:cNvPr id="18" name="Text 14"/>
          <p:cNvSpPr/>
          <p:nvPr/>
        </p:nvSpPr>
        <p:spPr>
          <a:xfrm>
            <a:off x="5775573" y="4355753"/>
            <a:ext cx="1162869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Budget (30%)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5775573" y="4537695"/>
            <a:ext cx="1913037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15% of revenue — efficiency play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19100"/>
            <a:ext cx="1324198" cy="259407"/>
          </a:xfrm>
          <a:prstGeom prst="roundRect">
            <a:avLst>
              <a:gd name="adj" fmla="val 17502"/>
            </a:avLst>
          </a:prstGeom>
          <a:noFill/>
          <a:ln w="4763">
            <a:solidFill>
              <a:srgbClr val="EEAE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1918" y="464344"/>
            <a:ext cx="1609799" cy="168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50" dirty="0">
                <a:solidFill>
                  <a:srgbClr val="EEAE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STRATEGIC INSIGHTS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730002"/>
            <a:ext cx="7826946" cy="422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dirty="0">
                <a:solidFill>
                  <a:srgbClr val="EEAEF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Key Business Insights: Executive Dashboard</a:t>
            </a:r>
            <a:endParaRPr lang="en-US" sz="2650" dirty="0"/>
          </a:p>
        </p:txBody>
      </p:sp>
      <p:sp>
        <p:nvSpPr>
          <p:cNvPr id="5" name="Shape 3"/>
          <p:cNvSpPr/>
          <p:nvPr/>
        </p:nvSpPr>
        <p:spPr>
          <a:xfrm>
            <a:off x="496119" y="1345481"/>
            <a:ext cx="2631430" cy="1730648"/>
          </a:xfrm>
          <a:prstGeom prst="roundRect">
            <a:avLst>
              <a:gd name="adj" fmla="val 3279"/>
            </a:avLst>
          </a:prstGeom>
          <a:solidFill>
            <a:srgbClr val="282D5E"/>
          </a:solidFill>
          <a:ln/>
        </p:spPr>
      </p:sp>
      <p:sp>
        <p:nvSpPr>
          <p:cNvPr id="6" name="Shape 4"/>
          <p:cNvSpPr/>
          <p:nvPr/>
        </p:nvSpPr>
        <p:spPr>
          <a:xfrm>
            <a:off x="631180" y="1480542"/>
            <a:ext cx="405333" cy="405333"/>
          </a:xfrm>
          <a:prstGeom prst="roundRect">
            <a:avLst>
              <a:gd name="adj" fmla="val 14098108"/>
            </a:avLst>
          </a:prstGeom>
          <a:solidFill>
            <a:srgbClr val="EEAEF6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2652" y="1591940"/>
            <a:ext cx="182389" cy="18238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31180" y="2014612"/>
            <a:ext cx="1688976" cy="215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🟢</a:t>
            </a:r>
            <a:r>
              <a:rPr lang="en-US" sz="130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Top Opportunity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31180" y="2307729"/>
            <a:ext cx="2361307" cy="633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South &amp; West regions show untapped growth — increase marketing investment.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256285" y="1345481"/>
            <a:ext cx="2631430" cy="1730648"/>
          </a:xfrm>
          <a:prstGeom prst="roundRect">
            <a:avLst>
              <a:gd name="adj" fmla="val 3279"/>
            </a:avLst>
          </a:prstGeom>
          <a:solidFill>
            <a:srgbClr val="282D5E"/>
          </a:solidFill>
          <a:ln/>
        </p:spPr>
      </p:sp>
      <p:sp>
        <p:nvSpPr>
          <p:cNvPr id="11" name="Shape 8"/>
          <p:cNvSpPr/>
          <p:nvPr/>
        </p:nvSpPr>
        <p:spPr>
          <a:xfrm>
            <a:off x="3391346" y="1480542"/>
            <a:ext cx="405333" cy="405333"/>
          </a:xfrm>
          <a:prstGeom prst="roundRect">
            <a:avLst>
              <a:gd name="adj" fmla="val 14098108"/>
            </a:avLst>
          </a:prstGeom>
          <a:solidFill>
            <a:srgbClr val="EEAEF6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502819" y="1591940"/>
            <a:ext cx="182389" cy="18238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391346" y="2014612"/>
            <a:ext cx="1688976" cy="215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🔴</a:t>
            </a:r>
            <a:r>
              <a:rPr lang="en-US" sz="130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Top Risk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391346" y="2307729"/>
            <a:ext cx="2361307" cy="633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Central region profitability is negative — immediate cost review required.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016451" y="1345481"/>
            <a:ext cx="2631430" cy="1730648"/>
          </a:xfrm>
          <a:prstGeom prst="roundRect">
            <a:avLst>
              <a:gd name="adj" fmla="val 3279"/>
            </a:avLst>
          </a:prstGeom>
          <a:solidFill>
            <a:srgbClr val="282D5E"/>
          </a:solidFill>
          <a:ln/>
        </p:spPr>
      </p:sp>
      <p:sp>
        <p:nvSpPr>
          <p:cNvPr id="16" name="Shape 12"/>
          <p:cNvSpPr/>
          <p:nvPr/>
        </p:nvSpPr>
        <p:spPr>
          <a:xfrm>
            <a:off x="6151513" y="1480542"/>
            <a:ext cx="405333" cy="405333"/>
          </a:xfrm>
          <a:prstGeom prst="roundRect">
            <a:avLst>
              <a:gd name="adj" fmla="val 14098108"/>
            </a:avLst>
          </a:prstGeom>
          <a:solidFill>
            <a:srgbClr val="EEAEF6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62985" y="1591940"/>
            <a:ext cx="182389" cy="182389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151513" y="2014612"/>
            <a:ext cx="1688976" cy="215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🏆</a:t>
            </a:r>
            <a:r>
              <a:rPr lang="en-US" sz="130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Best Category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151513" y="2307729"/>
            <a:ext cx="2361307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Electronics leads in both revenue and profit — protect supply chain.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496119" y="3204865"/>
            <a:ext cx="4011513" cy="1519535"/>
          </a:xfrm>
          <a:prstGeom prst="roundRect">
            <a:avLst>
              <a:gd name="adj" fmla="val 3735"/>
            </a:avLst>
          </a:prstGeom>
          <a:solidFill>
            <a:srgbClr val="282D5E"/>
          </a:solidFill>
          <a:ln/>
        </p:spPr>
      </p:sp>
      <p:sp>
        <p:nvSpPr>
          <p:cNvPr id="21" name="Shape 16"/>
          <p:cNvSpPr/>
          <p:nvPr/>
        </p:nvSpPr>
        <p:spPr>
          <a:xfrm>
            <a:off x="631180" y="3339926"/>
            <a:ext cx="405333" cy="405333"/>
          </a:xfrm>
          <a:prstGeom prst="roundRect">
            <a:avLst>
              <a:gd name="adj" fmla="val 14098108"/>
            </a:avLst>
          </a:prstGeom>
          <a:solidFill>
            <a:srgbClr val="EEAEF6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42652" y="3451324"/>
            <a:ext cx="182389" cy="182389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31180" y="3873996"/>
            <a:ext cx="1688976" cy="215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📍</a:t>
            </a:r>
            <a:r>
              <a:rPr lang="en-US" sz="130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Best Region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631180" y="4167113"/>
            <a:ext cx="3741390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South region delivers highest profit margin — replicate success model.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4636368" y="3204865"/>
            <a:ext cx="4011513" cy="1519535"/>
          </a:xfrm>
          <a:prstGeom prst="roundRect">
            <a:avLst>
              <a:gd name="adj" fmla="val 3735"/>
            </a:avLst>
          </a:prstGeom>
          <a:solidFill>
            <a:srgbClr val="282D5E"/>
          </a:solidFill>
          <a:ln/>
        </p:spPr>
      </p:sp>
      <p:sp>
        <p:nvSpPr>
          <p:cNvPr id="26" name="Shape 20"/>
          <p:cNvSpPr/>
          <p:nvPr/>
        </p:nvSpPr>
        <p:spPr>
          <a:xfrm>
            <a:off x="4771430" y="3339926"/>
            <a:ext cx="405333" cy="405333"/>
          </a:xfrm>
          <a:prstGeom prst="roundRect">
            <a:avLst>
              <a:gd name="adj" fmla="val 14098108"/>
            </a:avLst>
          </a:prstGeom>
          <a:solidFill>
            <a:srgbClr val="EEAEF6"/>
          </a:solidFill>
          <a:ln/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882902" y="3451324"/>
            <a:ext cx="182389" cy="182389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771430" y="3873996"/>
            <a:ext cx="1688976" cy="215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💙</a:t>
            </a:r>
            <a:r>
              <a:rPr lang="en-US" sz="130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Retention Status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4771430" y="4167113"/>
            <a:ext cx="3741390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62% repeat customer rate — strong, but premium segment needs dedicated programs.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67991" y="426244"/>
            <a:ext cx="892671" cy="145777"/>
          </a:xfrm>
          <a:prstGeom prst="roundRect">
            <a:avLst>
              <a:gd name="adj" fmla="val 19401"/>
            </a:avLst>
          </a:prstGeom>
          <a:noFill/>
          <a:ln w="4763">
            <a:solidFill>
              <a:srgbClr val="EEAE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723206" y="456233"/>
            <a:ext cx="1239441" cy="85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500" dirty="0">
                <a:solidFill>
                  <a:srgbClr val="EEAE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STRATEGIC PRIORITIES</a:t>
            </a:r>
            <a:endParaRPr lang="en-US" sz="500" dirty="0"/>
          </a:p>
        </p:txBody>
      </p:sp>
      <p:sp>
        <p:nvSpPr>
          <p:cNvPr id="4" name="Text 2"/>
          <p:cNvSpPr/>
          <p:nvPr/>
        </p:nvSpPr>
        <p:spPr>
          <a:xfrm>
            <a:off x="1667991" y="591964"/>
            <a:ext cx="4371752" cy="2630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EEAEF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Three Strategic Priorities for 2024–25</a:t>
            </a:r>
            <a:endParaRPr lang="en-US" sz="16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7991" y="929953"/>
            <a:ext cx="1935956" cy="33664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52154" y="1316534"/>
            <a:ext cx="1555998" cy="131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Protect High-Margin Products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752154" y="1477938"/>
            <a:ext cx="1767632" cy="3219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6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Defend Electronics &amp; Fashion margins through pricing discipline and supply chain optimization.</a:t>
            </a:r>
            <a:endParaRPr lang="en-US" sz="6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3947" y="929953"/>
            <a:ext cx="1936031" cy="33664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688110" y="1316534"/>
            <a:ext cx="1576164" cy="131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Invest in High-Growth Regions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3688110" y="1477938"/>
            <a:ext cx="1767706" cy="214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6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Scale South &amp; West operations; deploy targeted campaigns in North &amp; East.</a:t>
            </a:r>
            <a:endParaRPr lang="en-US" sz="6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9978" y="929953"/>
            <a:ext cx="1936031" cy="33664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624140" y="1316534"/>
            <a:ext cx="1503536" cy="131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Improve Customer Retention</a:t>
            </a:r>
            <a:endParaRPr lang="en-US" sz="800" dirty="0"/>
          </a:p>
        </p:txBody>
      </p:sp>
      <p:sp>
        <p:nvSpPr>
          <p:cNvPr id="13" name="Text 8"/>
          <p:cNvSpPr/>
          <p:nvPr/>
        </p:nvSpPr>
        <p:spPr>
          <a:xfrm>
            <a:off x="5624140" y="1477938"/>
            <a:ext cx="1767706" cy="3219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6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Launch tiered loyalty programs for Premium and Standard segments to boost lifetime value.</a:t>
            </a:r>
            <a:endParaRPr lang="en-US" sz="6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67991" y="1940198"/>
            <a:ext cx="5808018" cy="2613571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2777439" y="2024315"/>
            <a:ext cx="1016389" cy="157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5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Phase 1</a:t>
            </a:r>
            <a:endParaRPr lang="en-US" sz="950" dirty="0"/>
          </a:p>
        </p:txBody>
      </p:sp>
      <p:sp>
        <p:nvSpPr>
          <p:cNvPr id="16" name="Text 10"/>
          <p:cNvSpPr/>
          <p:nvPr/>
        </p:nvSpPr>
        <p:spPr>
          <a:xfrm>
            <a:off x="2777439" y="2226057"/>
            <a:ext cx="1016389" cy="3002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Protect margins: pricing review &amp; supply audit</a:t>
            </a:r>
            <a:endParaRPr lang="en-US" sz="750" dirty="0"/>
          </a:p>
        </p:txBody>
      </p:sp>
      <p:sp>
        <p:nvSpPr>
          <p:cNvPr id="17" name="Text 11"/>
          <p:cNvSpPr/>
          <p:nvPr/>
        </p:nvSpPr>
        <p:spPr>
          <a:xfrm>
            <a:off x="4061886" y="3984493"/>
            <a:ext cx="1021973" cy="1570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5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Phase 2</a:t>
            </a:r>
            <a:endParaRPr lang="en-US" sz="950" dirty="0"/>
          </a:p>
        </p:txBody>
      </p:sp>
      <p:sp>
        <p:nvSpPr>
          <p:cNvPr id="18" name="Text 12"/>
          <p:cNvSpPr/>
          <p:nvPr/>
        </p:nvSpPr>
        <p:spPr>
          <a:xfrm>
            <a:off x="4061886" y="4186235"/>
            <a:ext cx="1021973" cy="3002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Regional investment: South &amp; West expansion</a:t>
            </a:r>
            <a:endParaRPr lang="en-US" sz="750" dirty="0"/>
          </a:p>
        </p:txBody>
      </p:sp>
      <p:sp>
        <p:nvSpPr>
          <p:cNvPr id="19" name="Text 13"/>
          <p:cNvSpPr/>
          <p:nvPr/>
        </p:nvSpPr>
        <p:spPr>
          <a:xfrm>
            <a:off x="5307241" y="1954683"/>
            <a:ext cx="1016389" cy="157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5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Phase 3</a:t>
            </a:r>
            <a:endParaRPr lang="en-US" sz="950" dirty="0"/>
          </a:p>
        </p:txBody>
      </p:sp>
      <p:sp>
        <p:nvSpPr>
          <p:cNvPr id="20" name="Text 14"/>
          <p:cNvSpPr/>
          <p:nvPr/>
        </p:nvSpPr>
        <p:spPr>
          <a:xfrm>
            <a:off x="5307241" y="2156425"/>
            <a:ext cx="1016389" cy="4003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Retention programs: loyalty launch &amp; CLV tracking</a:t>
            </a:r>
            <a:endParaRPr lang="en-US" sz="750" dirty="0"/>
          </a:p>
        </p:txBody>
      </p:sp>
      <p:sp>
        <p:nvSpPr>
          <p:cNvPr id="21" name="Text 15"/>
          <p:cNvSpPr/>
          <p:nvPr/>
        </p:nvSpPr>
        <p:spPr>
          <a:xfrm>
            <a:off x="1667991" y="4609951"/>
            <a:ext cx="6265218" cy="107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6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Phased execution ensures focused resource allocation with measurable milestones each quarter.</a:t>
            </a:r>
            <a:endParaRPr lang="en-US" sz="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38721" y="398934"/>
            <a:ext cx="939478" cy="159321"/>
          </a:xfrm>
          <a:prstGeom prst="roundRect">
            <a:avLst>
              <a:gd name="adj" fmla="val 19153"/>
            </a:avLst>
          </a:prstGeom>
          <a:noFill/>
          <a:ln w="4763">
            <a:solidFill>
              <a:srgbClr val="EEAE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497955" y="430932"/>
            <a:ext cx="1278210" cy="95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550" dirty="0">
                <a:solidFill>
                  <a:srgbClr val="EEAE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ROADMAP &amp; CLOSING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1438721" y="581471"/>
            <a:ext cx="4455170" cy="283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EEAEF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Future Enhancements &amp; Next Steps</a:t>
            </a:r>
            <a:endParaRPr lang="en-US" sz="1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8721" y="1017836"/>
            <a:ext cx="3022550" cy="30225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687491" y="1945332"/>
            <a:ext cx="2642443" cy="141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EEAEF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Building Toward Predictive Intelligence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4687491" y="2145357"/>
            <a:ext cx="3022550" cy="2382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7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Each enhancement layer adds analytical depth — from descriptive reporting to AI-driven forecasting.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4687491" y="2471738"/>
            <a:ext cx="3022550" cy="11311"/>
          </a:xfrm>
          <a:prstGeom prst="roundRect">
            <a:avLst>
              <a:gd name="adj" fmla="val 337232"/>
            </a:avLst>
          </a:prstGeom>
          <a:solidFill>
            <a:srgbClr val="E5DCE6">
              <a:alpha val="5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4687491" y="2571155"/>
            <a:ext cx="1592387" cy="141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EEAEF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Thank You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4687491" y="2771180"/>
            <a:ext cx="3479750" cy="119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7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Questions &amp; Discussion</a:t>
            </a:r>
            <a:endParaRPr lang="en-US" sz="700" dirty="0"/>
          </a:p>
        </p:txBody>
      </p:sp>
      <p:sp>
        <p:nvSpPr>
          <p:cNvPr id="11" name="Shape 8"/>
          <p:cNvSpPr/>
          <p:nvPr/>
        </p:nvSpPr>
        <p:spPr>
          <a:xfrm>
            <a:off x="4687491" y="2955727"/>
            <a:ext cx="1976884" cy="149796"/>
          </a:xfrm>
          <a:prstGeom prst="roundRect">
            <a:avLst>
              <a:gd name="adj" fmla="val 20371"/>
            </a:avLst>
          </a:prstGeom>
          <a:solidFill>
            <a:srgbClr val="3E0845"/>
          </a:solidFill>
          <a:ln/>
        </p:spPr>
      </p:sp>
      <p:sp>
        <p:nvSpPr>
          <p:cNvPr id="12" name="Text 9"/>
          <p:cNvSpPr/>
          <p:nvPr/>
        </p:nvSpPr>
        <p:spPr>
          <a:xfrm>
            <a:off x="4741962" y="2982962"/>
            <a:ext cx="2325142" cy="95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5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FLIPKART · POWER BI DASHBOARD REVIEW · 2024</a:t>
            </a:r>
            <a:endParaRPr lang="en-US" sz="550" dirty="0"/>
          </a:p>
        </p:txBody>
      </p:sp>
      <p:sp>
        <p:nvSpPr>
          <p:cNvPr id="13" name="Text 10"/>
          <p:cNvSpPr/>
          <p:nvPr/>
        </p:nvSpPr>
        <p:spPr>
          <a:xfrm>
            <a:off x="1438721" y="4171206"/>
            <a:ext cx="181570" cy="1134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E5DCE6"/>
                </a:solidFill>
                <a:latin typeface="Bricolage Grotesque Light" pitchFamily="34" charset="0"/>
                <a:ea typeface="Bricolage Grotesque Light" pitchFamily="34" charset="-122"/>
                <a:cs typeface="Bricolage Grotesque Light" pitchFamily="34" charset="-120"/>
              </a:rPr>
              <a:t>01</a:t>
            </a:r>
            <a:endParaRPr lang="en-US" sz="700" dirty="0"/>
          </a:p>
        </p:txBody>
      </p:sp>
      <p:sp>
        <p:nvSpPr>
          <p:cNvPr id="14" name="Shape 11"/>
          <p:cNvSpPr/>
          <p:nvPr/>
        </p:nvSpPr>
        <p:spPr>
          <a:xfrm>
            <a:off x="1438721" y="4316016"/>
            <a:ext cx="2050107" cy="9525"/>
          </a:xfrm>
          <a:prstGeom prst="rect">
            <a:avLst/>
          </a:prstGeom>
          <a:solidFill>
            <a:srgbClr val="EEAEF6"/>
          </a:solidFill>
          <a:ln/>
        </p:spPr>
      </p:sp>
      <p:sp>
        <p:nvSpPr>
          <p:cNvPr id="15" name="Text 12"/>
          <p:cNvSpPr/>
          <p:nvPr/>
        </p:nvSpPr>
        <p:spPr>
          <a:xfrm>
            <a:off x="1438721" y="4380458"/>
            <a:ext cx="1135187" cy="141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CLV Modeling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1438721" y="4557266"/>
            <a:ext cx="2050107" cy="119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7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Quantify customer lifetime value</a:t>
            </a:r>
            <a:endParaRPr lang="en-US" sz="700" dirty="0"/>
          </a:p>
        </p:txBody>
      </p:sp>
      <p:sp>
        <p:nvSpPr>
          <p:cNvPr id="17" name="Text 14"/>
          <p:cNvSpPr/>
          <p:nvPr/>
        </p:nvSpPr>
        <p:spPr>
          <a:xfrm>
            <a:off x="3546946" y="4171206"/>
            <a:ext cx="181570" cy="1134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E5DCE6"/>
                </a:solidFill>
                <a:latin typeface="Bricolage Grotesque Light" pitchFamily="34" charset="0"/>
                <a:ea typeface="Bricolage Grotesque Light" pitchFamily="34" charset="-122"/>
                <a:cs typeface="Bricolage Grotesque Light" pitchFamily="34" charset="-120"/>
              </a:rPr>
              <a:t>02</a:t>
            </a:r>
            <a:endParaRPr lang="en-US" sz="700" dirty="0"/>
          </a:p>
        </p:txBody>
      </p:sp>
      <p:sp>
        <p:nvSpPr>
          <p:cNvPr id="18" name="Shape 15"/>
          <p:cNvSpPr/>
          <p:nvPr/>
        </p:nvSpPr>
        <p:spPr>
          <a:xfrm>
            <a:off x="3546946" y="4316016"/>
            <a:ext cx="2050107" cy="9525"/>
          </a:xfrm>
          <a:prstGeom prst="rect">
            <a:avLst/>
          </a:prstGeom>
          <a:solidFill>
            <a:srgbClr val="EEAEF6"/>
          </a:solidFill>
          <a:ln/>
        </p:spPr>
      </p:sp>
      <p:sp>
        <p:nvSpPr>
          <p:cNvPr id="19" name="Text 16"/>
          <p:cNvSpPr/>
          <p:nvPr/>
        </p:nvSpPr>
        <p:spPr>
          <a:xfrm>
            <a:off x="3546946" y="4380458"/>
            <a:ext cx="1183556" cy="141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Return Rate Tracking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3546946" y="4557266"/>
            <a:ext cx="2050107" cy="119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7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Monitor product returns by category</a:t>
            </a:r>
            <a:endParaRPr lang="en-US" sz="700" dirty="0"/>
          </a:p>
        </p:txBody>
      </p:sp>
      <p:sp>
        <p:nvSpPr>
          <p:cNvPr id="21" name="Text 18"/>
          <p:cNvSpPr/>
          <p:nvPr/>
        </p:nvSpPr>
        <p:spPr>
          <a:xfrm>
            <a:off x="5655171" y="4171206"/>
            <a:ext cx="181570" cy="1134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E5DCE6"/>
                </a:solidFill>
                <a:latin typeface="Bricolage Grotesque Light" pitchFamily="34" charset="0"/>
                <a:ea typeface="Bricolage Grotesque Light" pitchFamily="34" charset="-122"/>
                <a:cs typeface="Bricolage Grotesque Light" pitchFamily="34" charset="-120"/>
              </a:rPr>
              <a:t>03</a:t>
            </a:r>
            <a:endParaRPr lang="en-US" sz="700" dirty="0"/>
          </a:p>
        </p:txBody>
      </p:sp>
      <p:sp>
        <p:nvSpPr>
          <p:cNvPr id="22" name="Shape 19"/>
          <p:cNvSpPr/>
          <p:nvPr/>
        </p:nvSpPr>
        <p:spPr>
          <a:xfrm>
            <a:off x="5655171" y="4316016"/>
            <a:ext cx="2050107" cy="9525"/>
          </a:xfrm>
          <a:prstGeom prst="rect">
            <a:avLst/>
          </a:prstGeom>
          <a:solidFill>
            <a:srgbClr val="EEAEF6"/>
          </a:solidFill>
          <a:ln/>
        </p:spPr>
      </p:sp>
      <p:sp>
        <p:nvSpPr>
          <p:cNvPr id="23" name="Text 20"/>
          <p:cNvSpPr/>
          <p:nvPr/>
        </p:nvSpPr>
        <p:spPr>
          <a:xfrm>
            <a:off x="5655171" y="4380458"/>
            <a:ext cx="1135187" cy="141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Forecasting &amp; AI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5655171" y="4557266"/>
            <a:ext cx="2050107" cy="119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7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Predict demand and automate insights</a:t>
            </a:r>
            <a:endParaRPr lang="en-US" sz="700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11</TotalTime>
  <Words>659</Words>
  <Application>Microsoft Office PowerPoint</Application>
  <PresentationFormat>On-screen Show (16:9)</PresentationFormat>
  <Paragraphs>126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Wingdings 2</vt:lpstr>
      <vt:lpstr>Bricolage Grotesque Light</vt:lpstr>
      <vt:lpstr>Bricolage Grotesque ExtraBold</vt:lpstr>
      <vt:lpstr>Calisto MT</vt:lpstr>
      <vt:lpstr>Montserrat</vt:lpstr>
      <vt:lpstr>Slate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ADMIN</dc:creator>
  <cp:lastModifiedBy>ADMIN</cp:lastModifiedBy>
  <cp:revision>3</cp:revision>
  <dcterms:created xsi:type="dcterms:W3CDTF">2026-06-17T08:18:48Z</dcterms:created>
  <dcterms:modified xsi:type="dcterms:W3CDTF">2026-06-17T08:31:06Z</dcterms:modified>
</cp:coreProperties>
</file>